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378" autoAdjust="0"/>
  </p:normalViewPr>
  <p:slideViewPr>
    <p:cSldViewPr snapToGrid="0">
      <p:cViewPr varScale="1">
        <p:scale>
          <a:sx n="76" d="100"/>
          <a:sy n="76" d="100"/>
        </p:scale>
        <p:origin x="726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un%20R\Downloads\Healthcare_Data_v2_Power_Query_Vers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un%20R\Downloads\Healthcare_Data_v2_Power_Query_Vers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Excel%20Full\US%20HealthCare%20Full%20Case%20Study%20Prabhakar\US_HealthCare_Case_Study_Solu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[Healthcare_Data_v2_Power_Query_Version.xlsx]Deep Dive 2!PivotTable12</c:name>
    <c:fmtId val="1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'Deep Dive 2'!$C$5:$C$6</c:f>
              <c:strCache>
                <c:ptCount val="1"/>
                <c:pt idx="0">
                  <c:v>Hypertension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'Deep Dive 2'!$B$7:$B$15</c:f>
              <c:strCache>
                <c:ptCount val="8"/>
                <c:pt idx="0">
                  <c:v>AB-</c:v>
                </c:pt>
                <c:pt idx="1">
                  <c:v>AB+</c:v>
                </c:pt>
                <c:pt idx="2">
                  <c:v>B-</c:v>
                </c:pt>
                <c:pt idx="3">
                  <c:v>O+</c:v>
                </c:pt>
                <c:pt idx="4">
                  <c:v>O-</c:v>
                </c:pt>
                <c:pt idx="5">
                  <c:v>B+</c:v>
                </c:pt>
                <c:pt idx="6">
                  <c:v>A+</c:v>
                </c:pt>
                <c:pt idx="7">
                  <c:v>A-</c:v>
                </c:pt>
              </c:strCache>
            </c:strRef>
          </c:cat>
          <c:val>
            <c:numRef>
              <c:f>'Deep Dive 2'!$C$7:$C$15</c:f>
              <c:numCache>
                <c:formatCode>0</c:formatCode>
                <c:ptCount val="8"/>
                <c:pt idx="0">
                  <c:v>277</c:v>
                </c:pt>
                <c:pt idx="1">
                  <c:v>268</c:v>
                </c:pt>
                <c:pt idx="2">
                  <c:v>259</c:v>
                </c:pt>
                <c:pt idx="3">
                  <c:v>268</c:v>
                </c:pt>
                <c:pt idx="4">
                  <c:v>276</c:v>
                </c:pt>
                <c:pt idx="5">
                  <c:v>282</c:v>
                </c:pt>
                <c:pt idx="6">
                  <c:v>265</c:v>
                </c:pt>
                <c:pt idx="7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16-4D8D-95E5-57C914294E12}"/>
            </c:ext>
          </c:extLst>
        </c:ser>
        <c:ser>
          <c:idx val="1"/>
          <c:order val="1"/>
          <c:tx>
            <c:strRef>
              <c:f>'Deep Dive 2'!$D$5:$D$6</c:f>
              <c:strCache>
                <c:ptCount val="1"/>
                <c:pt idx="0">
                  <c:v>Cancer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'Deep Dive 2'!$B$7:$B$15</c:f>
              <c:strCache>
                <c:ptCount val="8"/>
                <c:pt idx="0">
                  <c:v>AB-</c:v>
                </c:pt>
                <c:pt idx="1">
                  <c:v>AB+</c:v>
                </c:pt>
                <c:pt idx="2">
                  <c:v>B-</c:v>
                </c:pt>
                <c:pt idx="3">
                  <c:v>O+</c:v>
                </c:pt>
                <c:pt idx="4">
                  <c:v>O-</c:v>
                </c:pt>
                <c:pt idx="5">
                  <c:v>B+</c:v>
                </c:pt>
                <c:pt idx="6">
                  <c:v>A+</c:v>
                </c:pt>
                <c:pt idx="7">
                  <c:v>A-</c:v>
                </c:pt>
              </c:strCache>
            </c:strRef>
          </c:cat>
          <c:val>
            <c:numRef>
              <c:f>'Deep Dive 2'!$D$7:$D$15</c:f>
              <c:numCache>
                <c:formatCode>0</c:formatCode>
                <c:ptCount val="8"/>
                <c:pt idx="0">
                  <c:v>189</c:v>
                </c:pt>
                <c:pt idx="1">
                  <c:v>200</c:v>
                </c:pt>
                <c:pt idx="2">
                  <c:v>215</c:v>
                </c:pt>
                <c:pt idx="3">
                  <c:v>218</c:v>
                </c:pt>
                <c:pt idx="4">
                  <c:v>207</c:v>
                </c:pt>
                <c:pt idx="5">
                  <c:v>215</c:v>
                </c:pt>
                <c:pt idx="6">
                  <c:v>201</c:v>
                </c:pt>
                <c:pt idx="7">
                  <c:v>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16-4D8D-95E5-57C914294E12}"/>
            </c:ext>
          </c:extLst>
        </c:ser>
        <c:ser>
          <c:idx val="2"/>
          <c:order val="2"/>
          <c:tx>
            <c:strRef>
              <c:f>'Deep Dive 2'!$E$5:$E$6</c:f>
              <c:strCache>
                <c:ptCount val="1"/>
                <c:pt idx="0">
                  <c:v>Obesity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'Deep Dive 2'!$B$7:$B$15</c:f>
              <c:strCache>
                <c:ptCount val="8"/>
                <c:pt idx="0">
                  <c:v>AB-</c:v>
                </c:pt>
                <c:pt idx="1">
                  <c:v>AB+</c:v>
                </c:pt>
                <c:pt idx="2">
                  <c:v>B-</c:v>
                </c:pt>
                <c:pt idx="3">
                  <c:v>O+</c:v>
                </c:pt>
                <c:pt idx="4">
                  <c:v>O-</c:v>
                </c:pt>
                <c:pt idx="5">
                  <c:v>B+</c:v>
                </c:pt>
                <c:pt idx="6">
                  <c:v>A+</c:v>
                </c:pt>
                <c:pt idx="7">
                  <c:v>A-</c:v>
                </c:pt>
              </c:strCache>
            </c:strRef>
          </c:cat>
          <c:val>
            <c:numRef>
              <c:f>'Deep Dive 2'!$E$7:$E$15</c:f>
              <c:numCache>
                <c:formatCode>0</c:formatCode>
                <c:ptCount val="8"/>
                <c:pt idx="0">
                  <c:v>239</c:v>
                </c:pt>
                <c:pt idx="1">
                  <c:v>211</c:v>
                </c:pt>
                <c:pt idx="2">
                  <c:v>206</c:v>
                </c:pt>
                <c:pt idx="3">
                  <c:v>194</c:v>
                </c:pt>
                <c:pt idx="4">
                  <c:v>194</c:v>
                </c:pt>
                <c:pt idx="5">
                  <c:v>182</c:v>
                </c:pt>
                <c:pt idx="6">
                  <c:v>200</c:v>
                </c:pt>
                <c:pt idx="7">
                  <c:v>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16-4D8D-95E5-57C914294E12}"/>
            </c:ext>
          </c:extLst>
        </c:ser>
        <c:ser>
          <c:idx val="3"/>
          <c:order val="3"/>
          <c:tx>
            <c:strRef>
              <c:f>'Deep Dive 2'!$F$5:$F$6</c:f>
              <c:strCache>
                <c:ptCount val="1"/>
                <c:pt idx="0">
                  <c:v>Arthritis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'Deep Dive 2'!$B$7:$B$15</c:f>
              <c:strCache>
                <c:ptCount val="8"/>
                <c:pt idx="0">
                  <c:v>AB-</c:v>
                </c:pt>
                <c:pt idx="1">
                  <c:v>AB+</c:v>
                </c:pt>
                <c:pt idx="2">
                  <c:v>B-</c:v>
                </c:pt>
                <c:pt idx="3">
                  <c:v>O+</c:v>
                </c:pt>
                <c:pt idx="4">
                  <c:v>O-</c:v>
                </c:pt>
                <c:pt idx="5">
                  <c:v>B+</c:v>
                </c:pt>
                <c:pt idx="6">
                  <c:v>A+</c:v>
                </c:pt>
                <c:pt idx="7">
                  <c:v>A-</c:v>
                </c:pt>
              </c:strCache>
            </c:strRef>
          </c:cat>
          <c:val>
            <c:numRef>
              <c:f>'Deep Dive 2'!$F$7:$F$15</c:f>
              <c:numCache>
                <c:formatCode>0</c:formatCode>
                <c:ptCount val="8"/>
                <c:pt idx="0">
                  <c:v>194</c:v>
                </c:pt>
                <c:pt idx="1">
                  <c:v>219</c:v>
                </c:pt>
                <c:pt idx="2">
                  <c:v>181</c:v>
                </c:pt>
                <c:pt idx="3">
                  <c:v>203</c:v>
                </c:pt>
                <c:pt idx="4">
                  <c:v>209</c:v>
                </c:pt>
                <c:pt idx="5">
                  <c:v>197</c:v>
                </c:pt>
                <c:pt idx="6">
                  <c:v>194</c:v>
                </c:pt>
                <c:pt idx="7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16-4D8D-95E5-57C914294E12}"/>
            </c:ext>
          </c:extLst>
        </c:ser>
        <c:ser>
          <c:idx val="4"/>
          <c:order val="4"/>
          <c:tx>
            <c:strRef>
              <c:f>'Deep Dive 2'!$G$5:$G$6</c:f>
              <c:strCache>
                <c:ptCount val="1"/>
                <c:pt idx="0">
                  <c:v>Asthma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'Deep Dive 2'!$B$7:$B$15</c:f>
              <c:strCache>
                <c:ptCount val="8"/>
                <c:pt idx="0">
                  <c:v>AB-</c:v>
                </c:pt>
                <c:pt idx="1">
                  <c:v>AB+</c:v>
                </c:pt>
                <c:pt idx="2">
                  <c:v>B-</c:v>
                </c:pt>
                <c:pt idx="3">
                  <c:v>O+</c:v>
                </c:pt>
                <c:pt idx="4">
                  <c:v>O-</c:v>
                </c:pt>
                <c:pt idx="5">
                  <c:v>B+</c:v>
                </c:pt>
                <c:pt idx="6">
                  <c:v>A+</c:v>
                </c:pt>
                <c:pt idx="7">
                  <c:v>A-</c:v>
                </c:pt>
              </c:strCache>
            </c:strRef>
          </c:cat>
          <c:val>
            <c:numRef>
              <c:f>'Deep Dive 2'!$G$7:$G$15</c:f>
              <c:numCache>
                <c:formatCode>0</c:formatCode>
                <c:ptCount val="8"/>
                <c:pt idx="0">
                  <c:v>184</c:v>
                </c:pt>
                <c:pt idx="1">
                  <c:v>178</c:v>
                </c:pt>
                <c:pt idx="2">
                  <c:v>194</c:v>
                </c:pt>
                <c:pt idx="3">
                  <c:v>210</c:v>
                </c:pt>
                <c:pt idx="4">
                  <c:v>184</c:v>
                </c:pt>
                <c:pt idx="5">
                  <c:v>191</c:v>
                </c:pt>
                <c:pt idx="6">
                  <c:v>210</c:v>
                </c:pt>
                <c:pt idx="7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16-4D8D-95E5-57C914294E12}"/>
            </c:ext>
          </c:extLst>
        </c:ser>
        <c:ser>
          <c:idx val="5"/>
          <c:order val="5"/>
          <c:tx>
            <c:strRef>
              <c:f>'Deep Dive 2'!$H$5:$H$6</c:f>
              <c:strCache>
                <c:ptCount val="1"/>
                <c:pt idx="0">
                  <c:v>Diabetes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'Deep Dive 2'!$B$7:$B$15</c:f>
              <c:strCache>
                <c:ptCount val="8"/>
                <c:pt idx="0">
                  <c:v>AB-</c:v>
                </c:pt>
                <c:pt idx="1">
                  <c:v>AB+</c:v>
                </c:pt>
                <c:pt idx="2">
                  <c:v>B-</c:v>
                </c:pt>
                <c:pt idx="3">
                  <c:v>O+</c:v>
                </c:pt>
                <c:pt idx="4">
                  <c:v>O-</c:v>
                </c:pt>
                <c:pt idx="5">
                  <c:v>B+</c:v>
                </c:pt>
                <c:pt idx="6">
                  <c:v>A+</c:v>
                </c:pt>
                <c:pt idx="7">
                  <c:v>A-</c:v>
                </c:pt>
              </c:strCache>
            </c:strRef>
          </c:cat>
          <c:val>
            <c:numRef>
              <c:f>'Deep Dive 2'!$H$7:$H$15</c:f>
              <c:numCache>
                <c:formatCode>0</c:formatCode>
                <c:ptCount val="8"/>
                <c:pt idx="0">
                  <c:v>192</c:v>
                </c:pt>
                <c:pt idx="1">
                  <c:v>182</c:v>
                </c:pt>
                <c:pt idx="2">
                  <c:v>197</c:v>
                </c:pt>
                <c:pt idx="3">
                  <c:v>155</c:v>
                </c:pt>
                <c:pt idx="4">
                  <c:v>174</c:v>
                </c:pt>
                <c:pt idx="5">
                  <c:v>177</c:v>
                </c:pt>
                <c:pt idx="6">
                  <c:v>171</c:v>
                </c:pt>
                <c:pt idx="7">
                  <c:v>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316-4D8D-95E5-57C914294E1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75779936"/>
        <c:axId val="1775780896"/>
      </c:barChart>
      <c:catAx>
        <c:axId val="1775779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780896"/>
        <c:crosses val="autoZero"/>
        <c:auto val="1"/>
        <c:lblAlgn val="ctr"/>
        <c:lblOffset val="100"/>
        <c:noMultiLvlLbl val="0"/>
      </c:catAx>
      <c:valAx>
        <c:axId val="1775780896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779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0662527636631633"/>
          <c:y val="4.3816108085101575E-3"/>
          <c:w val="0.85745518340379867"/>
          <c:h val="0.10299695737448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[Healthcare_Data_v2_Power_Query_Version.xlsx]Deep Dive 3!PivotTable13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Billing</a:t>
            </a:r>
            <a:r>
              <a:rPr lang="en-US" baseline="0"/>
              <a:t> Amount by Admission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'Deep Dive 3'!$C$4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'Deep Dive 3'!$B$5:$B$8</c:f>
              <c:strCache>
                <c:ptCount val="3"/>
                <c:pt idx="0">
                  <c:v>Emergency</c:v>
                </c:pt>
                <c:pt idx="1">
                  <c:v>Elective</c:v>
                </c:pt>
                <c:pt idx="2">
                  <c:v>Urgent</c:v>
                </c:pt>
              </c:strCache>
            </c:strRef>
          </c:cat>
          <c:val>
            <c:numRef>
              <c:f>'Deep Dive 3'!$C$5:$C$8</c:f>
              <c:numCache>
                <c:formatCode>0</c:formatCode>
                <c:ptCount val="3"/>
                <c:pt idx="0">
                  <c:v>24279.063198578195</c:v>
                </c:pt>
                <c:pt idx="1">
                  <c:v>23038.947273805676</c:v>
                </c:pt>
                <c:pt idx="2">
                  <c:v>22731.208006834528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65-4B87-945B-98A24216CB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62379472"/>
        <c:axId val="662378992"/>
      </c:barChart>
      <c:catAx>
        <c:axId val="662379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378992"/>
        <c:crosses val="autoZero"/>
        <c:auto val="1"/>
        <c:lblAlgn val="ctr"/>
        <c:lblOffset val="100"/>
        <c:noMultiLvlLbl val="0"/>
      </c:catAx>
      <c:valAx>
        <c:axId val="662378992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379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[US_HealthCare_Case_Study_Solution.xlsx]Q3!PivotTable4</c:name>
    <c:fmtId val="2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5402630884157235E-2"/>
          <c:y val="1.9071076115485565E-2"/>
          <c:w val="0.84209683997984119"/>
          <c:h val="0.935447431922468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'Q3'!$S$28:$S$29</c:f>
              <c:strCache>
                <c:ptCount val="1"/>
                <c:pt idx="0">
                  <c:v>January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'Q3'!$S$30:$S$36</c:f>
              <c:numCache>
                <c:formatCode>General</c:formatCode>
                <c:ptCount val="6"/>
                <c:pt idx="0">
                  <c:v>124</c:v>
                </c:pt>
                <c:pt idx="1">
                  <c:v>119</c:v>
                </c:pt>
                <c:pt idx="2">
                  <c:v>157</c:v>
                </c:pt>
                <c:pt idx="3">
                  <c:v>125</c:v>
                </c:pt>
                <c:pt idx="4">
                  <c:v>169</c:v>
                </c:pt>
                <c:pt idx="5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5-42D1-BC4F-A471736CE5CC}"/>
            </c:ext>
          </c:extLst>
        </c:ser>
        <c:ser>
          <c:idx val="1"/>
          <c:order val="1"/>
          <c:tx>
            <c:strRef>
              <c:f>'Q3'!$T$28:$T$29</c:f>
              <c:strCache>
                <c:ptCount val="1"/>
                <c:pt idx="0">
                  <c:v>February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'Q3'!$T$30:$T$36</c:f>
              <c:numCache>
                <c:formatCode>General</c:formatCode>
                <c:ptCount val="6"/>
                <c:pt idx="0">
                  <c:v>144</c:v>
                </c:pt>
                <c:pt idx="1">
                  <c:v>107</c:v>
                </c:pt>
                <c:pt idx="2">
                  <c:v>125</c:v>
                </c:pt>
                <c:pt idx="3">
                  <c:v>118</c:v>
                </c:pt>
                <c:pt idx="4">
                  <c:v>173</c:v>
                </c:pt>
                <c:pt idx="5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5-42D1-BC4F-A471736CE5CC}"/>
            </c:ext>
          </c:extLst>
        </c:ser>
        <c:ser>
          <c:idx val="2"/>
          <c:order val="2"/>
          <c:tx>
            <c:strRef>
              <c:f>'Q3'!$U$28:$U$29</c:f>
              <c:strCache>
                <c:ptCount val="1"/>
                <c:pt idx="0">
                  <c:v>March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'Q3'!$U$30:$U$36</c:f>
              <c:numCache>
                <c:formatCode>General</c:formatCode>
                <c:ptCount val="6"/>
                <c:pt idx="0">
                  <c:v>138</c:v>
                </c:pt>
                <c:pt idx="1">
                  <c:v>129</c:v>
                </c:pt>
                <c:pt idx="2">
                  <c:v>139</c:v>
                </c:pt>
                <c:pt idx="3">
                  <c:v>135</c:v>
                </c:pt>
                <c:pt idx="4">
                  <c:v>168</c:v>
                </c:pt>
                <c:pt idx="5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15-42D1-BC4F-A471736CE5CC}"/>
            </c:ext>
          </c:extLst>
        </c:ser>
        <c:ser>
          <c:idx val="3"/>
          <c:order val="3"/>
          <c:tx>
            <c:strRef>
              <c:f>'Q3'!$V$28:$V$29</c:f>
              <c:strCache>
                <c:ptCount val="1"/>
                <c:pt idx="0">
                  <c:v>April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'Q3'!$V$30:$V$36</c:f>
              <c:numCache>
                <c:formatCode>General</c:formatCode>
                <c:ptCount val="6"/>
                <c:pt idx="0">
                  <c:v>137</c:v>
                </c:pt>
                <c:pt idx="1">
                  <c:v>139</c:v>
                </c:pt>
                <c:pt idx="2">
                  <c:v>133</c:v>
                </c:pt>
                <c:pt idx="3">
                  <c:v>124</c:v>
                </c:pt>
                <c:pt idx="4">
                  <c:v>181</c:v>
                </c:pt>
                <c:pt idx="5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15-42D1-BC4F-A471736CE5CC}"/>
            </c:ext>
          </c:extLst>
        </c:ser>
        <c:ser>
          <c:idx val="4"/>
          <c:order val="4"/>
          <c:tx>
            <c:strRef>
              <c:f>'Q3'!$W$28:$W$29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'Q3'!$W$30:$W$36</c:f>
              <c:numCache>
                <c:formatCode>General</c:formatCode>
                <c:ptCount val="6"/>
                <c:pt idx="0">
                  <c:v>119</c:v>
                </c:pt>
                <c:pt idx="1">
                  <c:v>133</c:v>
                </c:pt>
                <c:pt idx="2">
                  <c:v>142</c:v>
                </c:pt>
                <c:pt idx="3">
                  <c:v>92</c:v>
                </c:pt>
                <c:pt idx="4">
                  <c:v>199</c:v>
                </c:pt>
                <c:pt idx="5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15-42D1-BC4F-A471736CE5CC}"/>
            </c:ext>
          </c:extLst>
        </c:ser>
        <c:ser>
          <c:idx val="5"/>
          <c:order val="5"/>
          <c:tx>
            <c:strRef>
              <c:f>'Q3'!$X$28:$X$29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'Q3'!$X$30:$X$36</c:f>
              <c:numCache>
                <c:formatCode>General</c:formatCode>
                <c:ptCount val="6"/>
                <c:pt idx="0">
                  <c:v>154</c:v>
                </c:pt>
                <c:pt idx="1">
                  <c:v>129</c:v>
                </c:pt>
                <c:pt idx="2">
                  <c:v>118</c:v>
                </c:pt>
                <c:pt idx="3">
                  <c:v>118</c:v>
                </c:pt>
                <c:pt idx="4">
                  <c:v>161</c:v>
                </c:pt>
                <c:pt idx="5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15-42D1-BC4F-A471736CE5CC}"/>
            </c:ext>
          </c:extLst>
        </c:ser>
        <c:ser>
          <c:idx val="6"/>
          <c:order val="6"/>
          <c:tx>
            <c:strRef>
              <c:f>'Q3'!$Y$28:$Y$29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'Q3'!$Y$30:$Y$36</c:f>
              <c:numCache>
                <c:formatCode>General</c:formatCode>
                <c:ptCount val="6"/>
                <c:pt idx="0">
                  <c:v>122</c:v>
                </c:pt>
                <c:pt idx="1">
                  <c:v>140</c:v>
                </c:pt>
                <c:pt idx="2">
                  <c:v>133</c:v>
                </c:pt>
                <c:pt idx="3">
                  <c:v>120</c:v>
                </c:pt>
                <c:pt idx="4">
                  <c:v>172</c:v>
                </c:pt>
                <c:pt idx="5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15-42D1-BC4F-A471736CE5CC}"/>
            </c:ext>
          </c:extLst>
        </c:ser>
        <c:ser>
          <c:idx val="7"/>
          <c:order val="7"/>
          <c:tx>
            <c:strRef>
              <c:f>'Q3'!$Z$28:$Z$29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'Q3'!$Z$30:$Z$36</c:f>
              <c:numCache>
                <c:formatCode>General</c:formatCode>
                <c:ptCount val="6"/>
                <c:pt idx="0">
                  <c:v>142</c:v>
                </c:pt>
                <c:pt idx="1">
                  <c:v>129</c:v>
                </c:pt>
                <c:pt idx="2">
                  <c:v>134</c:v>
                </c:pt>
                <c:pt idx="3">
                  <c:v>138</c:v>
                </c:pt>
                <c:pt idx="4">
                  <c:v>180</c:v>
                </c:pt>
                <c:pt idx="5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315-42D1-BC4F-A471736CE5CC}"/>
            </c:ext>
          </c:extLst>
        </c:ser>
        <c:ser>
          <c:idx val="8"/>
          <c:order val="8"/>
          <c:tx>
            <c:strRef>
              <c:f>'Q3'!$AA$28:$AA$29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'Q3'!$AA$30:$AA$36</c:f>
              <c:numCache>
                <c:formatCode>General</c:formatCode>
                <c:ptCount val="6"/>
                <c:pt idx="0">
                  <c:v>121</c:v>
                </c:pt>
                <c:pt idx="1">
                  <c:v>112</c:v>
                </c:pt>
                <c:pt idx="2">
                  <c:v>139</c:v>
                </c:pt>
                <c:pt idx="3">
                  <c:v>109</c:v>
                </c:pt>
                <c:pt idx="4">
                  <c:v>188</c:v>
                </c:pt>
                <c:pt idx="5">
                  <c:v>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15-42D1-BC4F-A471736CE5CC}"/>
            </c:ext>
          </c:extLst>
        </c:ser>
        <c:ser>
          <c:idx val="9"/>
          <c:order val="9"/>
          <c:tx>
            <c:strRef>
              <c:f>'Q3'!$AB$28:$AB$29</c:f>
              <c:strCache>
                <c:ptCount val="1"/>
                <c:pt idx="0">
                  <c:v>October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'Q3'!$AB$30:$AB$36</c:f>
              <c:numCache>
                <c:formatCode>General</c:formatCode>
                <c:ptCount val="6"/>
                <c:pt idx="0">
                  <c:v>134</c:v>
                </c:pt>
                <c:pt idx="1">
                  <c:v>139</c:v>
                </c:pt>
                <c:pt idx="2">
                  <c:v>137</c:v>
                </c:pt>
                <c:pt idx="3">
                  <c:v>118</c:v>
                </c:pt>
                <c:pt idx="4">
                  <c:v>211</c:v>
                </c:pt>
                <c:pt idx="5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15-42D1-BC4F-A471736CE5CC}"/>
            </c:ext>
          </c:extLst>
        </c:ser>
        <c:ser>
          <c:idx val="10"/>
          <c:order val="10"/>
          <c:tx>
            <c:strRef>
              <c:f>'Q3'!$AC$28:$AC$29</c:f>
              <c:strCache>
                <c:ptCount val="1"/>
                <c:pt idx="0">
                  <c:v>November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'Q3'!$AC$30:$AC$36</c:f>
              <c:numCache>
                <c:formatCode>General</c:formatCode>
                <c:ptCount val="6"/>
                <c:pt idx="0">
                  <c:v>109</c:v>
                </c:pt>
                <c:pt idx="1">
                  <c:v>141</c:v>
                </c:pt>
                <c:pt idx="2">
                  <c:v>144</c:v>
                </c:pt>
                <c:pt idx="3">
                  <c:v>118</c:v>
                </c:pt>
                <c:pt idx="4">
                  <c:v>164</c:v>
                </c:pt>
                <c:pt idx="5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15-42D1-BC4F-A471736CE5CC}"/>
            </c:ext>
          </c:extLst>
        </c:ser>
        <c:ser>
          <c:idx val="11"/>
          <c:order val="11"/>
          <c:tx>
            <c:strRef>
              <c:f>'Q3'!$AD$28:$AD$29</c:f>
              <c:strCache>
                <c:ptCount val="1"/>
                <c:pt idx="0">
                  <c:v>December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'Q3'!$R$30:$R$36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'Q3'!$AD$30:$AD$36</c:f>
              <c:numCache>
                <c:formatCode>General</c:formatCode>
                <c:ptCount val="6"/>
                <c:pt idx="0">
                  <c:v>138</c:v>
                </c:pt>
                <c:pt idx="1">
                  <c:v>129</c:v>
                </c:pt>
                <c:pt idx="2">
                  <c:v>145</c:v>
                </c:pt>
                <c:pt idx="3">
                  <c:v>115</c:v>
                </c:pt>
                <c:pt idx="4">
                  <c:v>184</c:v>
                </c:pt>
                <c:pt idx="5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315-42D1-BC4F-A471736CE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7027904"/>
        <c:axId val="1957020224"/>
      </c:barChart>
      <c:catAx>
        <c:axId val="195702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20224"/>
        <c:crosses val="autoZero"/>
        <c:auto val="1"/>
        <c:lblAlgn val="ctr"/>
        <c:lblOffset val="100"/>
        <c:noMultiLvlLbl val="0"/>
      </c:catAx>
      <c:valAx>
        <c:axId val="1957020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2790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F0AEF-9B86-4F6F-8649-C10218D756AD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A71E2-48E3-4E45-8516-A8D935A3E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3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Xyz</a:t>
            </a:r>
            <a:br>
              <a:rPr lang="en-IN" dirty="0"/>
            </a:br>
            <a:r>
              <a:rPr lang="en-IN" dirty="0" err="1"/>
              <a:t>abc</a:t>
            </a:r>
            <a:br>
              <a:rPr lang="en-IN" dirty="0"/>
            </a:br>
            <a:r>
              <a:rPr lang="en-IN" dirty="0" err="1"/>
              <a:t>jhdfjd</a:t>
            </a:r>
            <a:endParaRPr lang="en-IN" dirty="0"/>
          </a:p>
          <a:p>
            <a:r>
              <a:rPr lang="en-IN" dirty="0" err="1"/>
              <a:t>Dslfkhsdlhsdl</a:t>
            </a:r>
            <a:endParaRPr lang="en-IN" dirty="0"/>
          </a:p>
          <a:p>
            <a:r>
              <a:rPr lang="en-IN" dirty="0" err="1"/>
              <a:t>Fgdfg</a:t>
            </a:r>
            <a:endParaRPr lang="en-IN" dirty="0"/>
          </a:p>
          <a:p>
            <a:r>
              <a:rPr lang="en-IN" dirty="0" err="1"/>
              <a:t>Dfgdfgfd</a:t>
            </a:r>
            <a:endParaRPr lang="en-IN" dirty="0"/>
          </a:p>
          <a:p>
            <a:r>
              <a:rPr lang="en-IN" dirty="0" err="1"/>
              <a:t>Dfgdfgf</a:t>
            </a:r>
            <a:endParaRPr lang="en-IN" dirty="0"/>
          </a:p>
          <a:p>
            <a:r>
              <a:rPr lang="en-IN" dirty="0" err="1"/>
              <a:t>Dfgdfg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A71E2-48E3-4E45-8516-A8D935A3E1C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971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A71E2-48E3-4E45-8516-A8D935A3E1C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694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A71E2-48E3-4E45-8516-A8D935A3E1C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664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Coding Ninjas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Case Study Practice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33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50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38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4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1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11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40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7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15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07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F6E9-9239-4239-8DA7-FFC920C0AD3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66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ED20-1136-10D5-EC9A-0F49B4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0E1B7-B52C-E6A4-8259-C9C9360F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Coding Ninjas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A6CF5-D04E-64A7-B8C4-A35D2B32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Case Study Practice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B7321-D653-989B-F5D8-0CABD628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7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Coding Ninjas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Case Study Practice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7B8D8-19AC-4879-AEE5-02191BB4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4314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carte-%C3%A9tats-unis-drapeau-fronti%C3%A8res-1019833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vgsilh.com/4caf50/image/144971.html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639A-1D39-0EE3-E230-52D70B3A4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8900" y="1054099"/>
            <a:ext cx="8902700" cy="1988815"/>
          </a:xfrm>
        </p:spPr>
        <p:txBody>
          <a:bodyPr/>
          <a:lstStyle/>
          <a:p>
            <a:r>
              <a:rPr lang="en-IN" b="1" dirty="0"/>
              <a:t>US Healthcare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DC8DC-A80A-101B-D663-A3391876B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68029" y="3467732"/>
            <a:ext cx="4927971" cy="28130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E73AF5-C8DB-97ED-A640-3338815E2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088917" y="3634097"/>
            <a:ext cx="2071453" cy="264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3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83F8-B318-1566-A7AA-60562F23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652" y="107791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Health condition Insights – Gender Based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0967B8-B6D0-4FC3-CA59-5FD409360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072" y="1277906"/>
            <a:ext cx="8366760" cy="2919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7D4BD-1AA9-A321-6140-60B810DAFC8B}"/>
              </a:ext>
            </a:extLst>
          </p:cNvPr>
          <p:cNvSpPr txBox="1"/>
          <p:nvPr/>
        </p:nvSpPr>
        <p:spPr>
          <a:xfrm>
            <a:off x="431292" y="4549676"/>
            <a:ext cx="11329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Hypertension is the most prevalent condition (22% of total cases)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with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61% of cases in males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highlighting higher male risk.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Cancer affects both genders almost equally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(836 females vs. 811 males).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Obesity is significantly higher in females (62%)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indicating potential lifestyle or biological factors.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Arthritis and Asthma show a near-equal gender split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with arthritis slightly more common in females and asthma in males.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Diabetes is more prevalent in females (57%)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emphasizing metabolic health concerns.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51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342A-FDD8-F362-5B5F-4D1AF601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Strategic Implications - </a:t>
            </a:r>
            <a:r>
              <a:rPr lang="en-IN" sz="4400" b="1" dirty="0"/>
              <a:t>Gender Based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A9EE-A04D-DF0B-FF0D-1A8092120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Targeted Health Initiatives:</a:t>
            </a:r>
            <a:endParaRPr lang="en-IN" sz="16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Prioritize </a:t>
            </a:r>
            <a:r>
              <a:rPr lang="en-IN" sz="16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hypertension awareness for men</a:t>
            </a:r>
            <a:r>
              <a:rPr lang="en-IN" sz="16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obesity management for women</a:t>
            </a:r>
            <a:r>
              <a:rPr lang="en-IN" sz="16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Preventive Care Programs:</a:t>
            </a:r>
            <a:endParaRPr lang="en-IN" sz="16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Implement </a:t>
            </a:r>
            <a:r>
              <a:rPr lang="en-IN" sz="16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gender-specific interventions</a:t>
            </a:r>
            <a:r>
              <a:rPr lang="en-IN" sz="16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for metabolic diseases like diabetes and obesity.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Resource Allocation:</a:t>
            </a:r>
            <a:endParaRPr lang="en-IN" sz="16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Address high-risk conditions effectively, particularly hypertension and obesity.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Further Research: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Investigate lifestyle, environmental, and genetic factors behind gender disparities.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438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F03F-F290-534E-A988-F6A434E1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Call to actions - </a:t>
            </a:r>
            <a:r>
              <a:rPr lang="en-IN" sz="4400" b="1" dirty="0"/>
              <a:t>Gender Based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DA34F-6719-E1BD-D243-4104497C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Develop customized health campaigns based on gender insights</a:t>
            </a:r>
          </a:p>
          <a:p>
            <a:r>
              <a:rPr lang="en-IN" dirty="0"/>
              <a:t>Collaborate with healthcare providers to offer tailored wellness programs</a:t>
            </a:r>
          </a:p>
          <a:p>
            <a:r>
              <a:rPr lang="en-IN" dirty="0"/>
              <a:t>Use data-driven decision-making to optimize 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96407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234-3181-DDD2-E5E6-E5059464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Health conditions Analysis by Blood Group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12FD0A-DD9F-5D29-EB91-C013FC88F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070581"/>
              </p:ext>
            </p:extLst>
          </p:nvPr>
        </p:nvGraphicFramePr>
        <p:xfrm>
          <a:off x="316992" y="1578737"/>
          <a:ext cx="4785360" cy="434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589270-5EF4-8E57-9F29-309CC6492960}"/>
              </a:ext>
            </a:extLst>
          </p:cNvPr>
          <p:cNvSpPr txBox="1"/>
          <p:nvPr/>
        </p:nvSpPr>
        <p:spPr>
          <a:xfrm>
            <a:off x="5175504" y="1591405"/>
            <a:ext cx="6583680" cy="490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Insights : </a:t>
            </a:r>
          </a:p>
          <a:p>
            <a:endParaRPr lang="en-IN" dirty="0"/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Hypertension is the most common condition (2155 cases),</a:t>
            </a:r>
            <a:r>
              <a:rPr lang="en-IN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with B+ having the highest cases (282).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Cancer cases are evenly distributed</a:t>
            </a:r>
            <a:r>
              <a:rPr lang="en-IN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across blood groups, ranging from 189 to 218.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Obesity is highest in AB- (239) and lowest in B+ (182).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Arthritis cases are fairly balanced</a:t>
            </a:r>
            <a:r>
              <a:rPr lang="en-IN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with AB+ (219) showing the highest count.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Asthma is most common in A+ and O+ (210 each).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Diabetes cases are lowest in O+ (155) and highest in B- (197).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All blood groups have a near-equal share in total cases (~12.5%).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13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CC53-24B4-5FEE-BCC1-E3086203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67" y="50323"/>
            <a:ext cx="10515600" cy="1325563"/>
          </a:xfrm>
        </p:spPr>
        <p:txBody>
          <a:bodyPr/>
          <a:lstStyle/>
          <a:p>
            <a:r>
              <a:rPr lang="en-IN" dirty="0"/>
              <a:t>Admission Type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7AF4FD-EF8F-1DBB-739D-AD43E55F1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7" y="1097301"/>
            <a:ext cx="7692959" cy="1372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EA0685-2B64-DE14-D769-389B1B48D1E9}"/>
              </a:ext>
            </a:extLst>
          </p:cNvPr>
          <p:cNvSpPr txBox="1"/>
          <p:nvPr/>
        </p:nvSpPr>
        <p:spPr>
          <a:xfrm>
            <a:off x="5243210" y="2680040"/>
            <a:ext cx="68579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Emergency admissions generate the highest revenue</a:t>
            </a:r>
            <a:r>
              <a:rPr lang="en-US" dirty="0"/>
              <a:t> ($87M) and have the </a:t>
            </a:r>
            <a:r>
              <a:rPr lang="en-US" b="1" dirty="0"/>
              <a:t>highest average billing</a:t>
            </a:r>
            <a:r>
              <a:rPr lang="en-US" dirty="0"/>
              <a:t> ($24,279), with a </a:t>
            </a:r>
            <a:r>
              <a:rPr lang="en-US" b="1" dirty="0"/>
              <a:t>3.8% increase</a:t>
            </a:r>
            <a:r>
              <a:rPr lang="en-US" dirty="0"/>
              <a:t> from the overall average.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Elective admissions contribute $70.9M</a:t>
            </a:r>
            <a:r>
              <a:rPr lang="en-US" dirty="0"/>
              <a:t> with an </a:t>
            </a:r>
            <a:r>
              <a:rPr lang="en-US" b="1" dirty="0"/>
              <a:t>average billing of $23,039</a:t>
            </a:r>
            <a:r>
              <a:rPr lang="en-US" dirty="0"/>
              <a:t>, slightly </a:t>
            </a:r>
            <a:r>
              <a:rPr lang="en-US" b="1" dirty="0"/>
              <a:t>below the overall average (-1.5%)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Urgent admissions have the lowest average billing ($22,731),</a:t>
            </a:r>
            <a:r>
              <a:rPr lang="en-US" dirty="0"/>
              <a:t> with a </a:t>
            </a:r>
            <a:r>
              <a:rPr lang="en-US" b="1" dirty="0"/>
              <a:t>-2.8% difference</a:t>
            </a:r>
            <a:r>
              <a:rPr lang="en-US" dirty="0"/>
              <a:t> from the overall average.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Emergency cases drive the highest cost per admission,</a:t>
            </a:r>
            <a:r>
              <a:rPr lang="en-US" dirty="0"/>
              <a:t> while urgent cases have the lowest.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Balanced distribution among admission types,</a:t>
            </a:r>
            <a:r>
              <a:rPr lang="en-US" dirty="0"/>
              <a:t> but cost variation suggests different resource utilization.</a:t>
            </a:r>
            <a:endParaRPr lang="en-IN" dirty="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E589AB9-0ED9-7069-C78B-97F4CCD464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6165119"/>
              </p:ext>
            </p:extLst>
          </p:nvPr>
        </p:nvGraphicFramePr>
        <p:xfrm>
          <a:off x="264267" y="2680040"/>
          <a:ext cx="4845685" cy="2715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DD2BA1-B408-33D2-F567-49A2CFD5F5FB}"/>
              </a:ext>
            </a:extLst>
          </p:cNvPr>
          <p:cNvCxnSpPr/>
          <p:nvPr/>
        </p:nvCxnSpPr>
        <p:spPr>
          <a:xfrm>
            <a:off x="1819072" y="3112851"/>
            <a:ext cx="2597285" cy="797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65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A97E-86AE-9F2F-DFF7-E10EC0F6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Insurance Provider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A290E-1E79-644C-4397-3F72A0AB8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68" y="1825625"/>
            <a:ext cx="6772072" cy="1606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45FEE-D3B8-23E6-FC70-809A9ED170D6}"/>
              </a:ext>
            </a:extLst>
          </p:cNvPr>
          <p:cNvSpPr txBox="1"/>
          <p:nvPr/>
        </p:nvSpPr>
        <p:spPr>
          <a:xfrm>
            <a:off x="690664" y="3706238"/>
            <a:ext cx="9805481" cy="313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Cigna ($46.9M) and Aetna ($46.3M) contribute the highest billing amounts, with the highest average billing per admission ($24,226 and $24,132, respectively). 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Medicare and UnitedHealthcare account for nearly 40% of admissions but have the lowest average billing (~$22,900), below the overall average (-1.9% and -2.0%). 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Blue Cross has the lowest average billing ($22,772), showing a -2.6% difference from the overall average. 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Aetna and Cigna outperform other providers in billing per admission, with a 3.2% and 3.6% increase above the overall average. 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Billing variations suggest different coverage policies or patient demographics across insurers.</a:t>
            </a:r>
            <a:endParaRPr lang="en-IN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370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6E15B43-D959-71D1-C7B6-F5501C9890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3906567"/>
              </p:ext>
            </p:extLst>
          </p:nvPr>
        </p:nvGraphicFramePr>
        <p:xfrm>
          <a:off x="406400" y="749300"/>
          <a:ext cx="6756400" cy="505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97792B-56CC-9580-13C2-C8C4F5FF9440}"/>
              </a:ext>
            </a:extLst>
          </p:cNvPr>
          <p:cNvSpPr txBox="1"/>
          <p:nvPr/>
        </p:nvSpPr>
        <p:spPr>
          <a:xfrm>
            <a:off x="8064500" y="2537936"/>
            <a:ext cx="3822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nstantia" panose="02030602050306030303" pitchFamily="18" charset="0"/>
              </a:rPr>
              <a:t>Displays percentage share of admission types per month, useful for </a:t>
            </a:r>
            <a:r>
              <a:rPr lang="en-IN" dirty="0" err="1">
                <a:latin typeface="Constantia" panose="02030602050306030303" pitchFamily="18" charset="0"/>
              </a:rPr>
              <a:t>analyzing</a:t>
            </a:r>
            <a:r>
              <a:rPr lang="en-IN" dirty="0">
                <a:latin typeface="Constantia" panose="02030602050306030303" pitchFamily="18" charset="0"/>
              </a:rPr>
              <a:t> patterns and resource utilization trends.</a:t>
            </a:r>
          </a:p>
        </p:txBody>
      </p:sp>
    </p:spTree>
    <p:extLst>
      <p:ext uri="{BB962C8B-B14F-4D97-AF65-F5344CB8AC3E}">
        <p14:creationId xmlns:p14="http://schemas.microsoft.com/office/powerpoint/2010/main" val="4046684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5391-B52E-E2CA-F5CE-53AE559A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C5467-7ACE-C358-49D3-8088D2E40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2434"/>
            <a:ext cx="10854447" cy="435133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Hypertension is the most prevalent condition (22% of total cases), with a higher risk for males (61%). Obesity and diabetes are more common in females, indicating potential lifestyle or metabolic factors.</a:t>
            </a:r>
          </a:p>
          <a:p>
            <a:r>
              <a:rPr lang="en-US" sz="2400" dirty="0"/>
              <a:t>Blood group distribution shows no major disparities, but certain conditions (e.g., obesity in AB-) show variations.</a:t>
            </a:r>
          </a:p>
          <a:p>
            <a:r>
              <a:rPr lang="en-US" sz="2400" dirty="0"/>
              <a:t>Emergency admissions drive the highest revenue ($87M) and cost per case ($24,279), while urgent admissions have the lowest average billing.</a:t>
            </a:r>
          </a:p>
          <a:p>
            <a:r>
              <a:rPr lang="en-US" sz="2400" dirty="0"/>
              <a:t>Cigna and Aetna lead in billing per admission, while Medicare and UnitedHealthcare have lower average costs. Differences suggest variations in coverage policies and patient demographics.</a:t>
            </a:r>
          </a:p>
          <a:p>
            <a:r>
              <a:rPr lang="en-US" sz="2400" dirty="0"/>
              <a:t>Overall, the data highlights key trends in disease prevalence, gender distribution, and healthcare costs, offering insights for targeted healthcare strategies and resource allocation.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3193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72</TotalTime>
  <Words>723</Words>
  <Application>Microsoft Office PowerPoint</Application>
  <PresentationFormat>Widescreen</PresentationFormat>
  <Paragraphs>61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Constantia</vt:lpstr>
      <vt:lpstr>Courier New</vt:lpstr>
      <vt:lpstr>Symbol</vt:lpstr>
      <vt:lpstr>Times New Roman</vt:lpstr>
      <vt:lpstr>Office Theme</vt:lpstr>
      <vt:lpstr>US Healthcare Analysis</vt:lpstr>
      <vt:lpstr>Health condition Insights – Gender Based Analysis</vt:lpstr>
      <vt:lpstr>Strategic Implications - Gender Based Analysis</vt:lpstr>
      <vt:lpstr>Call to actions - Gender Based Analysis</vt:lpstr>
      <vt:lpstr>Health conditions Analysis by Blood Group</vt:lpstr>
      <vt:lpstr>Admission Type Analysis</vt:lpstr>
      <vt:lpstr>Insurance Provider Analysis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Ravi</dc:creator>
  <cp:lastModifiedBy>shahprabhakar140701@gmail.com</cp:lastModifiedBy>
  <cp:revision>5</cp:revision>
  <dcterms:created xsi:type="dcterms:W3CDTF">2025-03-17T16:26:50Z</dcterms:created>
  <dcterms:modified xsi:type="dcterms:W3CDTF">2025-11-27T08:45:50Z</dcterms:modified>
</cp:coreProperties>
</file>